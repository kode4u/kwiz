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306" r:id="rId4"/>
    <p:sldId id="305" r:id="rId5"/>
    <p:sldId id="304" r:id="rId6"/>
    <p:sldId id="261" r:id="rId7"/>
    <p:sldId id="260" r:id="rId8"/>
    <p:sldId id="259" r:id="rId9"/>
    <p:sldId id="258" r:id="rId10"/>
    <p:sldId id="303" r:id="rId11"/>
    <p:sldId id="296" r:id="rId12"/>
    <p:sldId id="290" r:id="rId13"/>
    <p:sldId id="297" r:id="rId14"/>
    <p:sldId id="291" r:id="rId15"/>
    <p:sldId id="301" r:id="rId16"/>
    <p:sldId id="293" r:id="rId17"/>
    <p:sldId id="298" r:id="rId18"/>
    <p:sldId id="299" r:id="rId19"/>
    <p:sldId id="264" r:id="rId20"/>
    <p:sldId id="300" r:id="rId21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5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7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1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2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9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0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6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9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7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EFC0D-56C4-4F21-8E6C-D3310677B5A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42F96-F3D0-41B2-8507-1B4B06B1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8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4.sv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ECF3F-0636-4158-A7B0-468279979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83531"/>
            <a:ext cx="7772400" cy="1148888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JICA-</a:t>
            </a:r>
            <a:r>
              <a:rPr lang="en-US" altLang="ja-JP" sz="3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INACON</a:t>
            </a:r>
            <a:r>
              <a:rPr lang="ja-JP" altLang="en-US" sz="3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E2350-7443-484F-A772-DAC2DB8DD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196281"/>
            <a:ext cx="9144000" cy="978154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 of LBE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4781" y="6336200"/>
            <a:ext cx="1359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-20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20504" y="4583242"/>
            <a:ext cx="5474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Battambang</a:t>
            </a:r>
          </a:p>
          <a:p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 and Technology</a:t>
            </a:r>
          </a:p>
          <a:p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PI: Mr. ENG Titya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20177" y="81957"/>
            <a:ext cx="1908875" cy="16716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BE7A1D-38F0-29BB-A0DD-BBACE0A7E9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617" y="253677"/>
            <a:ext cx="965415" cy="13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9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D595-CAD4-DFAC-3D47-A54E2475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4A6E-8E91-8553-0D2F-D718369D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Research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975025-CB1A-96E8-B921-D8FF0CB2E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Topic:</a:t>
            </a:r>
          </a:p>
          <a:p>
            <a:r>
              <a:rPr lang="en-US" altLang="ja-JP" dirty="0"/>
              <a:t>Budget: $7,500</a:t>
            </a:r>
          </a:p>
          <a:p>
            <a:r>
              <a:rPr lang="en-US" altLang="ja-JP" dirty="0"/>
              <a:t>Period: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865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A98E-594B-FBD5-C0A3-7CD10CE3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ACD5-0967-F0D1-A691-1290F06D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LBE Research Members and Assignments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B25F631-9EA0-95A5-D25E-196D2C78AA46}"/>
              </a:ext>
            </a:extLst>
          </p:cNvPr>
          <p:cNvSpPr/>
          <p:nvPr/>
        </p:nvSpPr>
        <p:spPr>
          <a:xfrm>
            <a:off x="3939769" y="4485551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E6609E9-6965-5D24-588A-F64110AC79DC}"/>
              </a:ext>
            </a:extLst>
          </p:cNvPr>
          <p:cNvSpPr/>
          <p:nvPr/>
        </p:nvSpPr>
        <p:spPr>
          <a:xfrm>
            <a:off x="1241897" y="4503404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FAA8C3E-046C-1CD8-3FB8-0B243B3330C4}"/>
              </a:ext>
            </a:extLst>
          </p:cNvPr>
          <p:cNvSpPr/>
          <p:nvPr/>
        </p:nvSpPr>
        <p:spPr>
          <a:xfrm>
            <a:off x="6836034" y="4485551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B692D5A-F4F0-C6CB-5076-C9CB24A42C69}"/>
              </a:ext>
            </a:extLst>
          </p:cNvPr>
          <p:cNvSpPr/>
          <p:nvPr/>
        </p:nvSpPr>
        <p:spPr>
          <a:xfrm>
            <a:off x="6861061" y="1510737"/>
            <a:ext cx="1209485" cy="1175461"/>
          </a:xfrm>
          <a:custGeom>
            <a:avLst/>
            <a:gdLst/>
            <a:ahLst/>
            <a:cxnLst/>
            <a:rect l="l" t="t" r="r" b="b"/>
            <a:pathLst>
              <a:path w="2418969" h="2350921">
                <a:moveTo>
                  <a:pt x="0" y="0"/>
                </a:moveTo>
                <a:lnTo>
                  <a:pt x="2418969" y="0"/>
                </a:lnTo>
                <a:lnTo>
                  <a:pt x="2418969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593" t="-70592" r="-30148" b="-13323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40A049-A0C1-9C06-3C50-86CBB653F6D7}"/>
              </a:ext>
            </a:extLst>
          </p:cNvPr>
          <p:cNvSpPr/>
          <p:nvPr/>
        </p:nvSpPr>
        <p:spPr>
          <a:xfrm>
            <a:off x="3984270" y="1510737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0" y="0"/>
                </a:lnTo>
                <a:lnTo>
                  <a:pt x="2350920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145"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76EF4C7-4CD6-B4CA-B12C-B7678588906F}"/>
              </a:ext>
            </a:extLst>
          </p:cNvPr>
          <p:cNvSpPr/>
          <p:nvPr/>
        </p:nvSpPr>
        <p:spPr>
          <a:xfrm>
            <a:off x="1147915" y="1510737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1946" t="-85253" r="-209802" b="-186495"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19FD54C-D2E3-E884-5269-F5A4F8F9FBEF}"/>
              </a:ext>
            </a:extLst>
          </p:cNvPr>
          <p:cNvSpPr/>
          <p:nvPr/>
        </p:nvSpPr>
        <p:spPr>
          <a:xfrm>
            <a:off x="2628497" y="3029489"/>
            <a:ext cx="1054356" cy="1106495"/>
          </a:xfrm>
          <a:custGeom>
            <a:avLst/>
            <a:gdLst/>
            <a:ahLst/>
            <a:cxnLst/>
            <a:rect l="l" t="t" r="r" b="b"/>
            <a:pathLst>
              <a:path w="2108712" h="2212989">
                <a:moveTo>
                  <a:pt x="0" y="0"/>
                </a:moveTo>
                <a:lnTo>
                  <a:pt x="2108712" y="0"/>
                </a:lnTo>
                <a:lnTo>
                  <a:pt x="2108712" y="2212989"/>
                </a:lnTo>
                <a:lnTo>
                  <a:pt x="0" y="22129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2CA278A-9B8A-192F-99F9-2E69CBCAB1B9}"/>
              </a:ext>
            </a:extLst>
          </p:cNvPr>
          <p:cNvSpPr/>
          <p:nvPr/>
        </p:nvSpPr>
        <p:spPr>
          <a:xfrm>
            <a:off x="5088677" y="2997261"/>
            <a:ext cx="1054357" cy="1138724"/>
          </a:xfrm>
          <a:custGeom>
            <a:avLst/>
            <a:gdLst/>
            <a:ahLst/>
            <a:cxnLst/>
            <a:rect l="l" t="t" r="r" b="b"/>
            <a:pathLst>
              <a:path w="2341905" h="2341905">
                <a:moveTo>
                  <a:pt x="0" y="0"/>
                </a:moveTo>
                <a:lnTo>
                  <a:pt x="2341904" y="0"/>
                </a:lnTo>
                <a:lnTo>
                  <a:pt x="2341904" y="2341905"/>
                </a:lnTo>
                <a:lnTo>
                  <a:pt x="0" y="23419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ABC13D30-58BF-298C-D9B5-43EB02903DB3}"/>
              </a:ext>
            </a:extLst>
          </p:cNvPr>
          <p:cNvSpPr txBox="1"/>
          <p:nvPr/>
        </p:nvSpPr>
        <p:spPr>
          <a:xfrm>
            <a:off x="1085006" y="5755190"/>
            <a:ext cx="1907977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SAK </a:t>
            </a:r>
            <a:r>
              <a:rPr lang="en-US" sz="1050" dirty="0" err="1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Mengseu</a:t>
            </a: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. Master Y1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92A8DE2-F9C1-471D-0F73-4D9BA1D812B5}"/>
              </a:ext>
            </a:extLst>
          </p:cNvPr>
          <p:cNvSpPr txBox="1"/>
          <p:nvPr/>
        </p:nvSpPr>
        <p:spPr>
          <a:xfrm>
            <a:off x="3609311" y="5726508"/>
            <a:ext cx="2217242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SINTHA </a:t>
            </a:r>
            <a:r>
              <a:rPr lang="en-US" sz="1050" dirty="0" err="1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Monthy</a:t>
            </a: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. Bachelor Y3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F39E9C9D-8477-0BAD-0A31-5DFB89C049E5}"/>
              </a:ext>
            </a:extLst>
          </p:cNvPr>
          <p:cNvSpPr txBox="1"/>
          <p:nvPr/>
        </p:nvSpPr>
        <p:spPr>
          <a:xfrm>
            <a:off x="6639474" y="5738873"/>
            <a:ext cx="2214042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SINTHA </a:t>
            </a:r>
            <a:r>
              <a:rPr lang="en-US" sz="1050" dirty="0" err="1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Monthy</a:t>
            </a: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. Bachelor Y2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A9BB70C-1AEC-A48B-8787-AC5B9C7CA065}"/>
              </a:ext>
            </a:extLst>
          </p:cNvPr>
          <p:cNvSpPr txBox="1"/>
          <p:nvPr/>
        </p:nvSpPr>
        <p:spPr>
          <a:xfrm>
            <a:off x="2494313" y="4150365"/>
            <a:ext cx="1636105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HAM Heng, Lecturer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C08354BE-930F-E769-D2CF-56DF22C121AA}"/>
              </a:ext>
            </a:extLst>
          </p:cNvPr>
          <p:cNvSpPr txBox="1"/>
          <p:nvPr/>
        </p:nvSpPr>
        <p:spPr>
          <a:xfrm>
            <a:off x="4936096" y="4130974"/>
            <a:ext cx="1780915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HUON Sophy, Lecturer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45C08288-9AC8-8C10-9D91-9D8E3882756E}"/>
              </a:ext>
            </a:extLst>
          </p:cNvPr>
          <p:cNvSpPr txBox="1"/>
          <p:nvPr/>
        </p:nvSpPr>
        <p:spPr>
          <a:xfrm>
            <a:off x="1359610" y="2725460"/>
            <a:ext cx="1134703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ENG Titya, PI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9CFA37AF-F6AB-D7D4-0CE7-B7535C905BCC}"/>
              </a:ext>
            </a:extLst>
          </p:cNvPr>
          <p:cNvSpPr txBox="1"/>
          <p:nvPr/>
        </p:nvSpPr>
        <p:spPr>
          <a:xfrm>
            <a:off x="3948379" y="2686955"/>
            <a:ext cx="1670633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Mrs. CHAN Sokha, Co-PI</a:t>
            </a: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05E7830A-5C48-23C4-BA1F-EEB8010E3A4F}"/>
              </a:ext>
            </a:extLst>
          </p:cNvPr>
          <p:cNvSpPr txBox="1"/>
          <p:nvPr/>
        </p:nvSpPr>
        <p:spPr>
          <a:xfrm>
            <a:off x="6842182" y="2686955"/>
            <a:ext cx="1662224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HORN Samart, Co-PI</a:t>
            </a:r>
          </a:p>
        </p:txBody>
      </p:sp>
    </p:spTree>
    <p:extLst>
      <p:ext uri="{BB962C8B-B14F-4D97-AF65-F5344CB8AC3E}">
        <p14:creationId xmlns:p14="http://schemas.microsoft.com/office/powerpoint/2010/main" val="88236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98200" y="4372736"/>
            <a:ext cx="1939100" cy="2057400"/>
          </a:xfrm>
          <a:custGeom>
            <a:avLst/>
            <a:gdLst/>
            <a:ahLst/>
            <a:cxnLst/>
            <a:rect l="l" t="t" r="r" b="b"/>
            <a:pathLst>
              <a:path w="3878199" h="4114800">
                <a:moveTo>
                  <a:pt x="0" y="0"/>
                </a:moveTo>
                <a:lnTo>
                  <a:pt x="3878200" y="0"/>
                </a:lnTo>
                <a:lnTo>
                  <a:pt x="3878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00867" y="936786"/>
            <a:ext cx="1387317" cy="955514"/>
          </a:xfrm>
          <a:custGeom>
            <a:avLst/>
            <a:gdLst/>
            <a:ahLst/>
            <a:cxnLst/>
            <a:rect l="l" t="t" r="r" b="b"/>
            <a:pathLst>
              <a:path w="2774633" h="1911028">
                <a:moveTo>
                  <a:pt x="0" y="1911028"/>
                </a:moveTo>
                <a:lnTo>
                  <a:pt x="2774633" y="1911028"/>
                </a:lnTo>
                <a:lnTo>
                  <a:pt x="2774633" y="0"/>
                </a:lnTo>
                <a:lnTo>
                  <a:pt x="0" y="0"/>
                </a:lnTo>
                <a:lnTo>
                  <a:pt x="0" y="19110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39769" y="4485551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1897" y="4503404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36034" y="4485551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61061" y="1510737"/>
            <a:ext cx="1209485" cy="1175461"/>
          </a:xfrm>
          <a:custGeom>
            <a:avLst/>
            <a:gdLst/>
            <a:ahLst/>
            <a:cxnLst/>
            <a:rect l="l" t="t" r="r" b="b"/>
            <a:pathLst>
              <a:path w="2418969" h="2350921">
                <a:moveTo>
                  <a:pt x="0" y="0"/>
                </a:moveTo>
                <a:lnTo>
                  <a:pt x="2418969" y="0"/>
                </a:lnTo>
                <a:lnTo>
                  <a:pt x="2418969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593" t="-70592" r="-30148" b="-1332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84270" y="1510737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0" y="0"/>
                </a:lnTo>
                <a:lnTo>
                  <a:pt x="2350920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114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7915" y="1510737"/>
            <a:ext cx="1175461" cy="1175461"/>
          </a:xfrm>
          <a:custGeom>
            <a:avLst/>
            <a:gdLst/>
            <a:ahLst/>
            <a:cxnLst/>
            <a:rect l="l" t="t" r="r" b="b"/>
            <a:pathLst>
              <a:path w="2350921" h="2350921">
                <a:moveTo>
                  <a:pt x="0" y="0"/>
                </a:moveTo>
                <a:lnTo>
                  <a:pt x="2350921" y="0"/>
                </a:lnTo>
                <a:lnTo>
                  <a:pt x="2350921" y="2350921"/>
                </a:lnTo>
                <a:lnTo>
                  <a:pt x="0" y="2350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1946" t="-85253" r="-209802" b="-18649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28497" y="3029489"/>
            <a:ext cx="1054356" cy="1106495"/>
          </a:xfrm>
          <a:custGeom>
            <a:avLst/>
            <a:gdLst/>
            <a:ahLst/>
            <a:cxnLst/>
            <a:rect l="l" t="t" r="r" b="b"/>
            <a:pathLst>
              <a:path w="2108712" h="2212989">
                <a:moveTo>
                  <a:pt x="0" y="0"/>
                </a:moveTo>
                <a:lnTo>
                  <a:pt x="2108712" y="0"/>
                </a:lnTo>
                <a:lnTo>
                  <a:pt x="2108712" y="2212989"/>
                </a:lnTo>
                <a:lnTo>
                  <a:pt x="0" y="22129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88677" y="2997260"/>
            <a:ext cx="1170953" cy="1170953"/>
          </a:xfrm>
          <a:custGeom>
            <a:avLst/>
            <a:gdLst/>
            <a:ahLst/>
            <a:cxnLst/>
            <a:rect l="l" t="t" r="r" b="b"/>
            <a:pathLst>
              <a:path w="2341905" h="2341905">
                <a:moveTo>
                  <a:pt x="0" y="0"/>
                </a:moveTo>
                <a:lnTo>
                  <a:pt x="2341904" y="0"/>
                </a:lnTo>
                <a:lnTo>
                  <a:pt x="2341904" y="2341905"/>
                </a:lnTo>
                <a:lnTo>
                  <a:pt x="0" y="23419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4350" y="933213"/>
            <a:ext cx="6449175" cy="46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Team Member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5639" y="5755064"/>
            <a:ext cx="1907977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SAK Mengseu. Master Y1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1823" y="5755064"/>
            <a:ext cx="2217242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SINTHA Monthy. Bachelor Y3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16744" y="5755064"/>
            <a:ext cx="2214042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SINTHA Monthy. Bachelor Y2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23376" y="4212183"/>
            <a:ext cx="1636105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HAM Heng, Lecturer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83696" y="4212183"/>
            <a:ext cx="1780915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HUON Sophy, Lecturer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7915" y="2762397"/>
            <a:ext cx="1134703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ENG Titya, PI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6684" y="2723892"/>
            <a:ext cx="1670633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Mrs. CHAN Sokha, Co-PI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30487" y="2723892"/>
            <a:ext cx="1662224" cy="1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0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Mr. HORN Samart, Co-PI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4420-2154-E91B-1A14-94384FC4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C09B-1D4A-937F-FD1E-C5AC6AA0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LBE Research Members and Assignments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68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7162-F866-7D25-47B0-D431B70C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CD00B-3A4D-5000-B452-39343DB4CC9D}"/>
              </a:ext>
            </a:extLst>
          </p:cNvPr>
          <p:cNvSpPr txBox="1"/>
          <p:nvPr/>
        </p:nvSpPr>
        <p:spPr>
          <a:xfrm>
            <a:off x="5135541" y="4658041"/>
            <a:ext cx="2480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H" sz="1400" dirty="0"/>
              <a:t>Plant Cell Technology (2024)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9EE47-3442-4229-DD3B-CE3613EF242B}"/>
              </a:ext>
            </a:extLst>
          </p:cNvPr>
          <p:cNvSpPr txBox="1"/>
          <p:nvPr/>
        </p:nvSpPr>
        <p:spPr>
          <a:xfrm>
            <a:off x="628650" y="5004223"/>
            <a:ext cx="7886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 RAG-enabled LLM framework for Moodle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question quality, retrieval effectiveness, and performance.</a:t>
            </a:r>
            <a:endParaRPr lang="en-KH" dirty="0"/>
          </a:p>
        </p:txBody>
      </p:sp>
    </p:spTree>
    <p:extLst>
      <p:ext uri="{BB962C8B-B14F-4D97-AF65-F5344CB8AC3E}">
        <p14:creationId xmlns:p14="http://schemas.microsoft.com/office/powerpoint/2010/main" val="309296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793A-24CE-2CE3-43D5-2F150909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dirty="0"/>
              <a:t>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D5DC9-BA32-A911-0011-0475FE7A4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8" y="4889967"/>
            <a:ext cx="3506198" cy="1972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20E94-BAAC-A47F-68FA-E90ABCA9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8" y="1998425"/>
            <a:ext cx="3506198" cy="2629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FC298A-E9A6-73F4-22A2-57509681C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69" r="7048"/>
          <a:stretch>
            <a:fillRect/>
          </a:stretch>
        </p:blipFill>
        <p:spPr>
          <a:xfrm>
            <a:off x="4459942" y="1965210"/>
            <a:ext cx="4545369" cy="205695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2E97E-027C-90E0-307D-9311A5276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956" y="4321840"/>
            <a:ext cx="4391038" cy="21710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36EFA6-3071-93F6-4CB6-A8406998E646}"/>
              </a:ext>
            </a:extLst>
          </p:cNvPr>
          <p:cNvSpPr txBox="1"/>
          <p:nvPr/>
        </p:nvSpPr>
        <p:spPr>
          <a:xfrm>
            <a:off x="4459942" y="6526954"/>
            <a:ext cx="4648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2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</a:defRPr>
            </a:lvl1pPr>
          </a:lstStyle>
          <a:p>
            <a:r>
              <a:rPr lang="en-US" sz="1400" b="0" dirty="0"/>
              <a:t>Tokunaga et al. (2019)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E9EA1-1D4D-FAC1-ABC3-270F288B0EB1}"/>
              </a:ext>
            </a:extLst>
          </p:cNvPr>
          <p:cNvSpPr/>
          <p:nvPr/>
        </p:nvSpPr>
        <p:spPr>
          <a:xfrm>
            <a:off x="4459942" y="4195482"/>
            <a:ext cx="4684058" cy="26392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B0D19-7070-E7E4-0067-6A8226651930}"/>
              </a:ext>
            </a:extLst>
          </p:cNvPr>
          <p:cNvSpPr txBox="1"/>
          <p:nvPr/>
        </p:nvSpPr>
        <p:spPr>
          <a:xfrm>
            <a:off x="628648" y="1576314"/>
            <a:ext cx="457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Aeroponic System</a:t>
            </a:r>
            <a:endParaRPr lang="en-KH" dirty="0"/>
          </a:p>
        </p:txBody>
      </p:sp>
    </p:spTree>
    <p:extLst>
      <p:ext uri="{BB962C8B-B14F-4D97-AF65-F5344CB8AC3E}">
        <p14:creationId xmlns:p14="http://schemas.microsoft.com/office/powerpoint/2010/main" val="349488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35EC-D4D5-B1C0-6DD7-BA8106EA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K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EE1F4B-AB01-5D7E-75A0-15DDC7750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108" y="1825625"/>
            <a:ext cx="580178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C23FC-715C-CF8F-68D8-29B8EEF77AE6}"/>
              </a:ext>
            </a:extLst>
          </p:cNvPr>
          <p:cNvSpPr txBox="1"/>
          <p:nvPr/>
        </p:nvSpPr>
        <p:spPr>
          <a:xfrm>
            <a:off x="2471351" y="6240159"/>
            <a:ext cx="363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H" dirty="0"/>
              <a:t>At 3 weeks after planting.</a:t>
            </a:r>
          </a:p>
        </p:txBody>
      </p:sp>
    </p:spTree>
    <p:extLst>
      <p:ext uri="{BB962C8B-B14F-4D97-AF65-F5344CB8AC3E}">
        <p14:creationId xmlns:p14="http://schemas.microsoft.com/office/powerpoint/2010/main" val="427690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DA45A87-5F29-1E1A-8068-CF2AC21F8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878366"/>
            <a:ext cx="7886700" cy="2870890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7543FD-B87B-F172-B4CF-FB2F7C64CE33}"/>
              </a:ext>
            </a:extLst>
          </p:cNvPr>
          <p:cNvSpPr txBox="1"/>
          <p:nvPr/>
        </p:nvSpPr>
        <p:spPr>
          <a:xfrm>
            <a:off x="1197981" y="4022736"/>
            <a:ext cx="630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75%</a:t>
            </a:r>
            <a:endParaRPr lang="en-KH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55A294-D17C-AFD1-8873-6E359D675FE7}"/>
              </a:ext>
            </a:extLst>
          </p:cNvPr>
          <p:cNvSpPr txBox="1"/>
          <p:nvPr/>
        </p:nvSpPr>
        <p:spPr>
          <a:xfrm>
            <a:off x="1863526" y="4187019"/>
            <a:ext cx="630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65%</a:t>
            </a:r>
            <a:endParaRPr lang="en-KH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D8165-6E30-47B6-0B6D-29C14F5F1E1B}"/>
              </a:ext>
            </a:extLst>
          </p:cNvPr>
          <p:cNvSpPr txBox="1"/>
          <p:nvPr/>
        </p:nvSpPr>
        <p:spPr>
          <a:xfrm>
            <a:off x="2529071" y="4452177"/>
            <a:ext cx="630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50%</a:t>
            </a:r>
            <a:endParaRPr lang="en-KH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C21E70-94F3-C43C-3AB6-F889AE32A2A4}"/>
              </a:ext>
            </a:extLst>
          </p:cNvPr>
          <p:cNvSpPr txBox="1"/>
          <p:nvPr/>
        </p:nvSpPr>
        <p:spPr>
          <a:xfrm>
            <a:off x="4124571" y="5674520"/>
            <a:ext cx="1138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Google Sans Text"/>
              </a:rPr>
              <a:t>P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>
                <a:latin typeface="Google Sans Text"/>
              </a:rPr>
              <a:t>&gt;</a:t>
            </a:r>
            <a:r>
              <a:rPr lang="en-US" sz="1600" dirty="0">
                <a:effectLst/>
                <a:latin typeface="Google Sans Text"/>
              </a:rPr>
              <a:t> 0.05</a:t>
            </a:r>
            <a:endParaRPr lang="en-KH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90DC6B-7009-ACA3-C45C-846988FEF65A}"/>
              </a:ext>
            </a:extLst>
          </p:cNvPr>
          <p:cNvSpPr txBox="1"/>
          <p:nvPr/>
        </p:nvSpPr>
        <p:spPr>
          <a:xfrm>
            <a:off x="6912014" y="5689909"/>
            <a:ext cx="1138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effectLst/>
                <a:latin typeface="Google Sans Text"/>
              </a:rPr>
              <a:t>P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>
                <a:latin typeface="Google Sans Text"/>
              </a:rPr>
              <a:t>&gt;</a:t>
            </a:r>
            <a:r>
              <a:rPr lang="en-US" sz="1600" dirty="0">
                <a:effectLst/>
                <a:latin typeface="Google Sans Text"/>
              </a:rPr>
              <a:t> 0.05</a:t>
            </a:r>
            <a:endParaRPr lang="en-KH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08CD62-88C5-D95E-42A3-6800F5C18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186" y="365127"/>
            <a:ext cx="3991814" cy="179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B7C9-39B0-83A8-2819-5D6D2E24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03F4-85C7-AF88-8C93-1A80F3DD0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Generated high-quality, curriculum-aligned MCQs using RAG and local LLMs.</a:t>
            </a:r>
          </a:p>
          <a:p>
            <a:r>
              <a:rPr lang="en-US" dirty="0"/>
              <a:t>Achieved over 90% question quality across evaluation criteria.</a:t>
            </a:r>
          </a:p>
          <a:p>
            <a:r>
              <a:rPr lang="en-US" dirty="0"/>
              <a:t>Average generation time: 2.49 s/question (95th percentile: 3.65 s).</a:t>
            </a:r>
          </a:p>
          <a:p>
            <a:r>
              <a:rPr lang="en-US" dirty="0"/>
              <a:t>Reduced hallucinations and improved semantic relevance through RAG.</a:t>
            </a:r>
          </a:p>
          <a:p>
            <a:r>
              <a:rPr lang="en-US" dirty="0"/>
              <a:t>Enabled privacy-preserving, low-latency Moodle assessment.</a:t>
            </a:r>
          </a:p>
        </p:txBody>
      </p:sp>
    </p:spTree>
    <p:extLst>
      <p:ext uri="{BB962C8B-B14F-4D97-AF65-F5344CB8AC3E}">
        <p14:creationId xmlns:p14="http://schemas.microsoft.com/office/powerpoint/2010/main" val="357458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3EDCEA-E6A4-4BE2-97EA-C28527E8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4418"/>
            <a:ext cx="9144000" cy="14908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Laboratory-Based Education </a:t>
            </a:r>
          </a:p>
        </p:txBody>
      </p:sp>
    </p:spTree>
    <p:extLst>
      <p:ext uri="{BB962C8B-B14F-4D97-AF65-F5344CB8AC3E}">
        <p14:creationId xmlns:p14="http://schemas.microsoft.com/office/powerpoint/2010/main" val="2583860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Plans for LBE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09EE3BBF-1299-482C-AE88-00C61B47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130"/>
            <a:ext cx="7886700" cy="4351338"/>
          </a:xfrm>
        </p:spPr>
        <p:txBody>
          <a:bodyPr/>
          <a:lstStyle/>
          <a:p>
            <a:r>
              <a:rPr kumimoji="1" lang="en-US" altLang="ja-JP" dirty="0"/>
              <a:t>How to involve students</a:t>
            </a:r>
          </a:p>
          <a:p>
            <a:r>
              <a:rPr kumimoji="1" lang="en-US" altLang="ja-JP" dirty="0"/>
              <a:t>How to motivate students</a:t>
            </a:r>
          </a:p>
          <a:p>
            <a:endParaRPr kumimoji="1" lang="en-US" altLang="ja-JP" dirty="0"/>
          </a:p>
          <a:p>
            <a:r>
              <a:rPr kumimoji="1" lang="en-US" altLang="ja-JP" dirty="0" err="1"/>
              <a:t>etc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064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Activities for LBE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A506EE-D01E-490D-A159-0B76E9F3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130"/>
            <a:ext cx="7886700" cy="4351338"/>
          </a:xfrm>
        </p:spPr>
        <p:txBody>
          <a:bodyPr/>
          <a:lstStyle/>
          <a:p>
            <a:r>
              <a:rPr kumimoji="1" lang="en-US" altLang="ja-JP" dirty="0"/>
              <a:t>Any activities to enhance involvement of students</a:t>
            </a:r>
          </a:p>
          <a:p>
            <a:r>
              <a:rPr kumimoji="1" lang="en-US" altLang="ja-JP" dirty="0"/>
              <a:t>Create research environment</a:t>
            </a:r>
          </a:p>
          <a:p>
            <a:r>
              <a:rPr kumimoji="1" lang="en-US" altLang="ja-JP" dirty="0"/>
              <a:t>Regular progress meetings</a:t>
            </a:r>
          </a:p>
          <a:p>
            <a:endParaRPr kumimoji="1" lang="en-US" altLang="ja-JP" dirty="0"/>
          </a:p>
          <a:p>
            <a:r>
              <a:rPr kumimoji="1" lang="en-US" altLang="ja-JP" dirty="0" err="1"/>
              <a:t>etc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0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Outcomes of LBE for Students</a:t>
            </a: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942AFFA3-64F0-4492-9E0D-DE21DEBF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130"/>
            <a:ext cx="7886700" cy="4351338"/>
          </a:xfrm>
        </p:spPr>
        <p:txBody>
          <a:bodyPr/>
          <a:lstStyle/>
          <a:p>
            <a:r>
              <a:rPr kumimoji="1" lang="en-US" altLang="ja-JP" dirty="0"/>
              <a:t>Change of students’ knowledge</a:t>
            </a:r>
          </a:p>
          <a:p>
            <a:r>
              <a:rPr kumimoji="1" lang="en-US" altLang="ja-JP" dirty="0"/>
              <a:t>Change of students’ motivation</a:t>
            </a:r>
          </a:p>
          <a:p>
            <a:r>
              <a:rPr kumimoji="1" lang="en-US" altLang="ja-JP" dirty="0"/>
              <a:t>Change of students’ skills in communication, problem solving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etc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9064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Outcomes of LBE</a:t>
            </a: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942AFFA3-64F0-4492-9E0D-DE21DEBF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130"/>
            <a:ext cx="7886700" cy="4351338"/>
          </a:xfrm>
        </p:spPr>
        <p:txBody>
          <a:bodyPr/>
          <a:lstStyle/>
          <a:p>
            <a:r>
              <a:rPr kumimoji="1" lang="en-US" altLang="ja-JP" dirty="0"/>
              <a:t>Lecturers</a:t>
            </a:r>
          </a:p>
          <a:p>
            <a:r>
              <a:rPr kumimoji="1" lang="en-US" altLang="ja-JP" dirty="0"/>
              <a:t>Environment </a:t>
            </a:r>
          </a:p>
          <a:p>
            <a:r>
              <a:rPr kumimoji="1" lang="en-US" altLang="ja-JP" dirty="0"/>
              <a:t>Cleanness 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etc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0114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Difficulties</a:t>
            </a:r>
          </a:p>
        </p:txBody>
      </p:sp>
    </p:spTree>
    <p:extLst>
      <p:ext uri="{BB962C8B-B14F-4D97-AF65-F5344CB8AC3E}">
        <p14:creationId xmlns:p14="http://schemas.microsoft.com/office/powerpoint/2010/main" val="2078812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 and Suggestions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7E56DB-C37A-2D9C-FE47-CA84AA26F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130"/>
            <a:ext cx="7886700" cy="4351338"/>
          </a:xfrm>
        </p:spPr>
        <p:txBody>
          <a:bodyPr/>
          <a:lstStyle/>
          <a:p>
            <a:r>
              <a:rPr kumimoji="1" lang="en-US" altLang="ja-JP" dirty="0"/>
              <a:t>Research Grant for next year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28301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C15-AAF8-4306-BE85-B440A728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33168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on LBE (Future) </a:t>
            </a:r>
          </a:p>
        </p:txBody>
      </p:sp>
    </p:spTree>
    <p:extLst>
      <p:ext uri="{BB962C8B-B14F-4D97-AF65-F5344CB8AC3E}">
        <p14:creationId xmlns:p14="http://schemas.microsoft.com/office/powerpoint/2010/main" val="3350204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B7C9-39B0-83A8-2819-5D6D2E24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03F4-85C7-AF88-8C93-1A80F3DD0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Young</a:t>
            </a:r>
            <a:r>
              <a:rPr lang="en-US" dirty="0"/>
              <a:t> cuttings demonstrated better </a:t>
            </a:r>
            <a:r>
              <a:rPr lang="en-US" b="1" dirty="0"/>
              <a:t>Survival Rates.</a:t>
            </a:r>
          </a:p>
          <a:p>
            <a:r>
              <a:rPr lang="en-US" dirty="0"/>
              <a:t>The maturity of the cutting (nodal position) did not have a statistically significant impact on the </a:t>
            </a:r>
            <a:r>
              <a:rPr lang="en-US" b="1" dirty="0"/>
              <a:t>Shoot Length</a:t>
            </a:r>
            <a:r>
              <a:rPr lang="en-US" dirty="0"/>
              <a:t> or </a:t>
            </a:r>
            <a:r>
              <a:rPr lang="en-US" b="1" dirty="0"/>
              <a:t>Bud Number</a:t>
            </a:r>
            <a:r>
              <a:rPr lang="en-US" dirty="0"/>
              <a:t> within this aeroponic system. </a:t>
            </a:r>
          </a:p>
          <a:p>
            <a:r>
              <a:rPr lang="en-US" dirty="0"/>
              <a:t>All three types of cuttings performed comparably in terms of vegetative growth metrics once survival was established.</a:t>
            </a:r>
            <a:endParaRPr lang="en-KH" dirty="0"/>
          </a:p>
        </p:txBody>
      </p:sp>
    </p:spTree>
    <p:extLst>
      <p:ext uri="{BB962C8B-B14F-4D97-AF65-F5344CB8AC3E}">
        <p14:creationId xmlns:p14="http://schemas.microsoft.com/office/powerpoint/2010/main" val="1810920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 Images - Free Download on Magnific (formerly ...">
            <a:extLst>
              <a:ext uri="{FF2B5EF4-FFF2-40B4-BE49-F238E27FC236}">
                <a16:creationId xmlns:a16="http://schemas.microsoft.com/office/drawing/2014/main" id="{20C4BF37-57C2-D521-F471-603D20635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784" y="1507662"/>
            <a:ext cx="5872432" cy="415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50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1854</TotalTime>
  <Words>396</Words>
  <Application>Microsoft Macintosh PowerPoint</Application>
  <PresentationFormat>On-screen Show (4:3)</PresentationFormat>
  <Paragraphs>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Google Sans Text</vt:lpstr>
      <vt:lpstr>Gordita</vt:lpstr>
      <vt:lpstr>Gordita Bold</vt:lpstr>
      <vt:lpstr>Times New Roman</vt:lpstr>
      <vt:lpstr>Office Theme</vt:lpstr>
      <vt:lpstr>JICA-INACON PROJECT</vt:lpstr>
      <vt:lpstr>Introduction of Research</vt:lpstr>
      <vt:lpstr>LBE Research Members and Assignments</vt:lpstr>
      <vt:lpstr>PowerPoint Presentation</vt:lpstr>
      <vt:lpstr>LBE Research Members and Assignments</vt:lpstr>
      <vt:lpstr>Introduction</vt:lpstr>
      <vt:lpstr>Methods</vt:lpstr>
      <vt:lpstr>Results</vt:lpstr>
      <vt:lpstr>PowerPoint Presentation</vt:lpstr>
      <vt:lpstr>Summary</vt:lpstr>
      <vt:lpstr>Laboratory-Based Education </vt:lpstr>
      <vt:lpstr>Strategic Plans for LBE</vt:lpstr>
      <vt:lpstr>Significant Activities for LBE</vt:lpstr>
      <vt:lpstr>Significant Outcomes of LBE for Students</vt:lpstr>
      <vt:lpstr>General Outcomes of LBE</vt:lpstr>
      <vt:lpstr>Difficulties</vt:lpstr>
      <vt:lpstr>Requests and Suggestions</vt:lpstr>
      <vt:lpstr>Strategies on LBE (Future) 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LBE Project</dc:title>
  <dc:creator>Sopheap PECH</dc:creator>
  <cp:lastModifiedBy>Eng Titya</cp:lastModifiedBy>
  <cp:revision>91</cp:revision>
  <cp:lastPrinted>2020-03-10T02:49:44Z</cp:lastPrinted>
  <dcterms:created xsi:type="dcterms:W3CDTF">2019-07-18T05:49:04Z</dcterms:created>
  <dcterms:modified xsi:type="dcterms:W3CDTF">2026-07-08T06:39:11Z</dcterms:modified>
</cp:coreProperties>
</file>